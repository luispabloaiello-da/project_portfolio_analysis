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nor Sans" charset="1" panose="02000000000000000000"/>
      <p:regular r:id="rId12"/>
    </p:embeddedFont>
    <p:embeddedFont>
      <p:font typeface="Clear Sans" charset="1" panose="020B0503030202020304"/>
      <p:regular r:id="rId13"/>
    </p:embeddedFont>
    <p:embeddedFont>
      <p:font typeface="TT Fors" charset="1" panose="020B0003030001020000"/>
      <p:regular r:id="rId14"/>
    </p:embeddedFont>
    <p:embeddedFont>
      <p:font typeface="Clear Sans Bold" charset="1" panose="020B0803030202020304"/>
      <p:regular r:id="rId15"/>
    </p:embeddedFont>
    <p:embeddedFont>
      <p:font typeface="Canva Sans" charset="1" panose="020B0503030501040103"/>
      <p:regular r:id="rId16"/>
    </p:embeddedFont>
    <p:embeddedFont>
      <p:font typeface="Arimo" charset="1" panose="020B0604020202020204"/>
      <p:regular r:id="rId17"/>
    </p:embeddedFont>
    <p:embeddedFont>
      <p:font typeface="Clear Sans Medium" charset="1" panose="020B0603030202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9763125" cy="5732563"/>
            <a:chOff x="0" y="0"/>
            <a:chExt cx="13017500" cy="764341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E2E8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Portfolio Analysis Challenge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1443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UNDE</a:t>
              </a:r>
              <a:r>
                <a:rPr lang="en-US" sz="3200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RSTANDING PERFORMANCE, RISK, AND DIVERSIFICATION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8411606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By Luis Pablo Aiello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976" y="8902065"/>
            <a:ext cx="71946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Data Analytics Student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623" y="4515564"/>
            <a:ext cx="10376982" cy="5188491"/>
          </a:xfrm>
          <a:custGeom>
            <a:avLst/>
            <a:gdLst/>
            <a:ahLst/>
            <a:cxnLst/>
            <a:rect r="r" b="b" t="t" l="l"/>
            <a:pathLst>
              <a:path h="5188491" w="10376982">
                <a:moveTo>
                  <a:pt x="0" y="0"/>
                </a:moveTo>
                <a:lnTo>
                  <a:pt x="10376982" y="0"/>
                </a:lnTo>
                <a:lnTo>
                  <a:pt x="10376982" y="5188491"/>
                </a:lnTo>
                <a:lnTo>
                  <a:pt x="0" y="5188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5623" y="386989"/>
            <a:ext cx="9950393" cy="3650831"/>
            <a:chOff x="0" y="0"/>
            <a:chExt cx="13267191" cy="486777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739139"/>
              <a:ext cx="13267191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ASS</a:t>
              </a:r>
              <a:r>
                <a:rPr lang="en-US" b="true" sz="2300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ET BEHAVIOR — PRICE GROWTH &amp; DAILY MOVES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910943"/>
              <a:ext cx="13267191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analysis showcases how different assets behave over time, helping investors identify </a:t>
              </a:r>
              <a:r>
                <a:rPr lang="en-US" b="true" sz="2099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growth potential</a:t>
              </a:r>
              <a:r>
                <a:rPr lang="en-US" sz="2099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</a:t>
              </a:r>
              <a:r>
                <a:rPr lang="en-US" b="true" sz="2099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volatility</a:t>
              </a:r>
              <a:r>
                <a:rPr lang="en-US" sz="2099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through visualized data.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13267191" cy="225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00"/>
                </a:lnSpc>
              </a:pPr>
              <a:r>
                <a:rPr lang="en-US" sz="5500" spc="-110">
                  <a:solidFill>
                    <a:srgbClr val="E2E8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Analyzing Asset Behavior: Price and Returns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672887" y="2571750"/>
          <a:ext cx="5586412" cy="6686550"/>
        </p:xfrm>
        <a:graphic>
          <a:graphicData uri="http://schemas.openxmlformats.org/drawingml/2006/table">
            <a:tbl>
              <a:tblPr/>
              <a:tblGrid>
                <a:gridCol w="891810"/>
                <a:gridCol w="945182"/>
                <a:gridCol w="947120"/>
                <a:gridCol w="936237"/>
                <a:gridCol w="942946"/>
                <a:gridCol w="923118"/>
              </a:tblGrid>
              <a:tr h="4101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E2E8F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Asset5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1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1/3/2019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-0.002032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-0.016072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-0.005699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-0.002707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-0.009432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1/4/2019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-0.00274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0.020954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0.025255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-0.001125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0.019242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1/7/2019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-0.001512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0.012632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-0.007338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0.001856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0.014792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1/8/2019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-0.001535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0.00704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0.003605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-0.000192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1/9/2019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0.001976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0.012919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0.002272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0.00412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0.014003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1/10/2019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0.001496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0.000642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0.005754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0.000361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0.000568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1/11/2019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0.001388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0.000434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0.000867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0.001608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-0.001513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1/14/2019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0.001139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-0.001785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-0.006756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-0.000033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-0.003598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1/15/2019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0.001023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0.006546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0.005581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0.001245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-0.00152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1/16/2019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0.000712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0.00797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0.000694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0.002977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0.0059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1/17/2019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-0.000024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0.000513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0.000173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0.001142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-0.001325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1/18/2019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-0.000106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0.017517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0.018021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0.001401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0.01421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1/21/2019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-0.000537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-0.002017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-0.002553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0.000846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-0.002242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1/22/2019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0.001222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-0.006064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-0.004266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-0.00039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-0.008051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108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1/23/2019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0.00047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-0.005881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-0.002571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-0.000716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17"/>
                        </a:lnSpc>
                        <a:defRPr/>
                      </a:pPr>
                      <a:r>
                        <a:rPr lang="en-US" sz="1155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0.00151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672887" y="1805877"/>
            <a:ext cx="558641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DAILY RETURNS CALCULATION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1477545" y="4563496"/>
          <a:ext cx="6280547" cy="2809875"/>
        </p:xfrm>
        <a:graphic>
          <a:graphicData uri="http://schemas.openxmlformats.org/drawingml/2006/table">
            <a:tbl>
              <a:tblPr/>
              <a:tblGrid>
                <a:gridCol w="783578"/>
                <a:gridCol w="1122974"/>
                <a:gridCol w="1110752"/>
                <a:gridCol w="1104939"/>
                <a:gridCol w="1035330"/>
                <a:gridCol w="1122974"/>
              </a:tblGrid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-0.088341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-0.061253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0.102252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-0.106484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-0.088341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0.852491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0.526634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0.591399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-0.061253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0.852491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0.51155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0.557414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0.102252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0.526634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0.51155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0.421155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Asset5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-0.106484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0.591399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0.557414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0.421155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E2E8F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1168" y="3467732"/>
            <a:ext cx="10057530" cy="6034518"/>
          </a:xfrm>
          <a:custGeom>
            <a:avLst/>
            <a:gdLst/>
            <a:ahLst/>
            <a:cxnLst/>
            <a:rect r="r" b="b" t="t" l="l"/>
            <a:pathLst>
              <a:path h="6034518" w="10057530">
                <a:moveTo>
                  <a:pt x="0" y="0"/>
                </a:moveTo>
                <a:lnTo>
                  <a:pt x="10057530" y="0"/>
                </a:lnTo>
                <a:lnTo>
                  <a:pt x="10057530" y="6034518"/>
                </a:lnTo>
                <a:lnTo>
                  <a:pt x="0" y="6034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1168" y="498069"/>
            <a:ext cx="9263216" cy="3286413"/>
            <a:chOff x="0" y="0"/>
            <a:chExt cx="12350954" cy="438188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856739"/>
              <a:ext cx="1235095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12350954" cy="3371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00"/>
                </a:lnSpc>
              </a:pPr>
              <a:r>
                <a:rPr lang="en-US" sz="5500" spc="-110">
                  <a:solidFill>
                    <a:srgbClr val="E2E8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Asset Correlations for Diversification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77545" y="3420107"/>
            <a:ext cx="6280547" cy="4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  <a:spcBef>
                <a:spcPct val="0"/>
              </a:spcBef>
            </a:pPr>
            <a:r>
              <a:rPr lang="en-US" b="true" sz="237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CORRELATION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810260"/>
            <a:ext cx="81153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ASSET MOVEMENT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3967" y="1563108"/>
            <a:ext cx="905412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ANALYZING ASSET CORRELATIONS HELPS IDENTIFY DIVERSIFICATION OPPORTUNITIES, ENHANCING PORTFOLIO RESILIENCE AND REDUCING OVERALL RISK THROUGH STRATEGIC ASSET ALLOCATION.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77545" y="3920673"/>
            <a:ext cx="628054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Low/negative correlation = shock absorbers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2654024" y="6910673"/>
            <a:ext cx="1959729" cy="16988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7954455" y="6910673"/>
            <a:ext cx="1684940" cy="18210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477545" y="8188813"/>
            <a:ext cx="628054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CORR(ASSET5, ASSET1) ≈ −0.106 (SLIGHTLY NEGATIVE)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CORR(ASSET5, ASSET2) ≈ 0.591 (MODERATELY POSITIVE)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CORR(ASSET5, ASSET3) ≈ 0.557 (MODERATELY POSITIVE)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CORR(ASSET5, ASSET4) ≈ 0.421 (POSITIVE)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800" y="5506495"/>
            <a:ext cx="8439012" cy="4219506"/>
          </a:xfrm>
          <a:custGeom>
            <a:avLst/>
            <a:gdLst/>
            <a:ahLst/>
            <a:cxnLst/>
            <a:rect r="r" b="b" t="t" l="l"/>
            <a:pathLst>
              <a:path h="4219506" w="8439012">
                <a:moveTo>
                  <a:pt x="0" y="0"/>
                </a:moveTo>
                <a:lnTo>
                  <a:pt x="8439013" y="0"/>
                </a:lnTo>
                <a:lnTo>
                  <a:pt x="8439013" y="4219507"/>
                </a:lnTo>
                <a:lnTo>
                  <a:pt x="0" y="421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6187" y="5506495"/>
            <a:ext cx="8439012" cy="4219506"/>
          </a:xfrm>
          <a:custGeom>
            <a:avLst/>
            <a:gdLst/>
            <a:ahLst/>
            <a:cxnLst/>
            <a:rect r="r" b="b" t="t" l="l"/>
            <a:pathLst>
              <a:path h="4219506" w="8439012">
                <a:moveTo>
                  <a:pt x="0" y="0"/>
                </a:moveTo>
                <a:lnTo>
                  <a:pt x="8439013" y="0"/>
                </a:lnTo>
                <a:lnTo>
                  <a:pt x="8439013" y="4219507"/>
                </a:lnTo>
                <a:lnTo>
                  <a:pt x="0" y="4219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4988" y="528954"/>
            <a:ext cx="9852633" cy="4018453"/>
            <a:chOff x="0" y="0"/>
            <a:chExt cx="13136844" cy="535793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739139"/>
              <a:ext cx="13136844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ANALYZING GROWTH AND VOLATILITY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10943"/>
              <a:ext cx="13136844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section presents the portfolio's </a:t>
              </a:r>
              <a:r>
                <a:rPr lang="en-US" b="true" sz="2099">
                  <a:solidFill>
                    <a:srgbClr val="E2E8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cumulative return</a:t>
              </a:r>
              <a:r>
                <a:rPr lang="en-US" sz="2099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over time, illustrating growth alongside moderate fluctuations, highlighting overall performance and risk levels.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13136844" cy="225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00"/>
                </a:lnSpc>
              </a:pPr>
              <a:r>
                <a:rPr lang="en-US" sz="5500" spc="-110">
                  <a:solidFill>
                    <a:srgbClr val="E2E8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Performance &amp; Risk Overview of Portfolio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336187" y="1543222"/>
            <a:ext cx="843901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Annualized Return ≈ 11.5%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— solid growth —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Annualized Volatility ≈ 8.5%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— moderate risk —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return/vol ≈ 1.35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—  good quality —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4010025" cy="2340610"/>
            <a:chOff x="0" y="0"/>
            <a:chExt cx="1029283" cy="600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0" y="0"/>
                  </a:moveTo>
                  <a:lnTo>
                    <a:pt x="1029283" y="0"/>
                  </a:lnTo>
                  <a:lnTo>
                    <a:pt x="1029283" y="600782"/>
                  </a:lnTo>
                  <a:lnTo>
                    <a:pt x="0" y="600782"/>
                  </a:ln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5143500"/>
            <a:ext cx="4010025" cy="2302164"/>
            <a:chOff x="0" y="0"/>
            <a:chExt cx="1029283" cy="5909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590914"/>
            </a:xfrm>
            <a:custGeom>
              <a:avLst/>
              <a:gdLst/>
              <a:ahLst/>
              <a:cxnLst/>
              <a:rect r="r" b="b" t="t" l="l"/>
              <a:pathLst>
                <a:path h="590914" w="1029283">
                  <a:moveTo>
                    <a:pt x="0" y="0"/>
                  </a:moveTo>
                  <a:lnTo>
                    <a:pt x="1029283" y="0"/>
                  </a:lnTo>
                  <a:lnTo>
                    <a:pt x="1029283" y="590914"/>
                  </a:lnTo>
                  <a:lnTo>
                    <a:pt x="0" y="590914"/>
                  </a:lnTo>
                  <a:close/>
                </a:path>
              </a:pathLst>
            </a:custGeom>
            <a:blipFill>
              <a:blip r:embed="rId3"/>
              <a:stretch>
                <a:fillRect l="-249" t="0" r="-249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4010025" cy="2303189"/>
            <a:chOff x="0" y="0"/>
            <a:chExt cx="1029283" cy="5911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591177"/>
            </a:xfrm>
            <a:custGeom>
              <a:avLst/>
              <a:gdLst/>
              <a:ahLst/>
              <a:cxnLst/>
              <a:rect r="r" b="b" t="t" l="l"/>
              <a:pathLst>
                <a:path h="591177" w="1029283">
                  <a:moveTo>
                    <a:pt x="0" y="0"/>
                  </a:moveTo>
                  <a:lnTo>
                    <a:pt x="1029283" y="0"/>
                  </a:lnTo>
                  <a:lnTo>
                    <a:pt x="1029283" y="591177"/>
                  </a:lnTo>
                  <a:lnTo>
                    <a:pt x="0" y="591177"/>
                  </a:lnTo>
                  <a:close/>
                </a:path>
              </a:pathLst>
            </a:custGeom>
            <a:blipFill>
              <a:blip r:embed="rId4"/>
              <a:stretch>
                <a:fillRect l="-272" t="0" r="-27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4818"/>
            <a:ext cx="4010025" cy="2328423"/>
            <a:chOff x="0" y="0"/>
            <a:chExt cx="1509365" cy="876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09365" cy="876413"/>
            </a:xfrm>
            <a:custGeom>
              <a:avLst/>
              <a:gdLst/>
              <a:ahLst/>
              <a:cxnLst/>
              <a:rect r="r" b="b" t="t" l="l"/>
              <a:pathLst>
                <a:path h="876413" w="1509365">
                  <a:moveTo>
                    <a:pt x="0" y="0"/>
                  </a:moveTo>
                  <a:lnTo>
                    <a:pt x="1509365" y="0"/>
                  </a:lnTo>
                  <a:lnTo>
                    <a:pt x="1509365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5"/>
              <a:stretch>
                <a:fillRect l="-381" t="0" r="-38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81575" y="664818"/>
            <a:ext cx="4010025" cy="2328423"/>
            <a:chOff x="0" y="0"/>
            <a:chExt cx="1509365" cy="8764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9365" cy="876413"/>
            </a:xfrm>
            <a:custGeom>
              <a:avLst/>
              <a:gdLst/>
              <a:ahLst/>
              <a:cxnLst/>
              <a:rect r="r" b="b" t="t" l="l"/>
              <a:pathLst>
                <a:path h="876413" w="1509365">
                  <a:moveTo>
                    <a:pt x="0" y="0"/>
                  </a:moveTo>
                  <a:lnTo>
                    <a:pt x="1509365" y="0"/>
                  </a:lnTo>
                  <a:lnTo>
                    <a:pt x="1509365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6"/>
              <a:stretch>
                <a:fillRect l="-381" t="0" r="-381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666750" y="3352800"/>
            <a:ext cx="4010025" cy="1087088"/>
            <a:chOff x="0" y="0"/>
            <a:chExt cx="5346700" cy="144945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5346700" cy="52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 strike="noStrike" u="none">
                  <a:solidFill>
                    <a:srgbClr val="E2E8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RISK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702" y="573151"/>
              <a:ext cx="5329998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Manage cluster risk by rebalancing to avoid overexposure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81575" y="3352800"/>
            <a:ext cx="4010025" cy="1087088"/>
            <a:chOff x="0" y="0"/>
            <a:chExt cx="5346700" cy="144945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5346700" cy="52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 strike="noStrike" u="none">
                  <a:solidFill>
                    <a:srgbClr val="E2E8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REBALANCING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702" y="573151"/>
              <a:ext cx="5329998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Enforce regular adjustment of weights as needed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6750" y="7829550"/>
            <a:ext cx="4010025" cy="1087088"/>
            <a:chOff x="0" y="0"/>
            <a:chExt cx="5346700" cy="144945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5346700" cy="52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 strike="noStrike" u="none">
                  <a:solidFill>
                    <a:srgbClr val="E2E8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DRAWDOWNS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702" y="573151"/>
              <a:ext cx="5329998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Monitor worst portfolio declines and recovery speed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81575" y="7829550"/>
            <a:ext cx="4010025" cy="1087088"/>
            <a:chOff x="0" y="0"/>
            <a:chExt cx="5346700" cy="144945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47625"/>
              <a:ext cx="5346700" cy="52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 strike="noStrike" u="none">
                  <a:solidFill>
                    <a:srgbClr val="E2E8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KPIS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6702" y="573151"/>
              <a:ext cx="5329998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E2E8F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Measure risk-adjusted performance with key financial ratios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96400" y="3305175"/>
            <a:ext cx="4025523" cy="4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  <a:spcBef>
                <a:spcPct val="0"/>
              </a:spcBef>
            </a:pPr>
            <a:r>
              <a:rPr lang="en-US" b="true" sz="2370" strike="noStrike" u="none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DIVERSIFICATION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8975" y="3775519"/>
            <a:ext cx="4012948" cy="66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6"/>
              </a:lnSpc>
            </a:pPr>
            <a:r>
              <a:rPr lang="en-US" sz="1968">
                <a:solidFill>
                  <a:srgbClr val="E2E8F0"/>
                </a:solidFill>
                <a:latin typeface="Clear Sans"/>
                <a:ea typeface="Clear Sans"/>
                <a:cs typeface="Clear Sans"/>
                <a:sym typeface="Clear Sans"/>
              </a:rPr>
              <a:t>Increase allocation to lower correlation assets for balance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74361"/>
            <a:ext cx="12581027" cy="6290513"/>
          </a:xfrm>
          <a:custGeom>
            <a:avLst/>
            <a:gdLst/>
            <a:ahLst/>
            <a:cxnLst/>
            <a:rect r="r" b="b" t="t" l="l"/>
            <a:pathLst>
              <a:path h="6290513" w="12581027">
                <a:moveTo>
                  <a:pt x="0" y="0"/>
                </a:moveTo>
                <a:lnTo>
                  <a:pt x="12581027" y="0"/>
                </a:lnTo>
                <a:lnTo>
                  <a:pt x="12581027" y="6290514"/>
                </a:lnTo>
                <a:lnTo>
                  <a:pt x="0" y="629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950" y="809850"/>
            <a:ext cx="1436161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5500" spc="-110">
                <a:solidFill>
                  <a:srgbClr val="E2E8F0"/>
                </a:solidFill>
                <a:latin typeface="Tenor Sans"/>
                <a:ea typeface="Tenor Sans"/>
                <a:cs typeface="Tenor Sans"/>
                <a:sym typeface="Tenor Sans"/>
              </a:rPr>
              <a:t>Family View of Portfolio Composition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66585">
            <a:off x="14121868" y="-1829911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788950" y="1984179"/>
            <a:ext cx="139865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E2E8F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THIS STACKED AREA CHART VISUALIZES PORTFOLIO WEIGHTS ACROSS EQUITIES, FIXED INCOME, AND ALTERNATIVES, ENSURING COMPLIANCE WITH POLICY LIMITS AND DIVERSIFICATION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Portfolio Analysis Challenge</dc:description>
  <dc:identifier>DAG4nAOf_ZM</dc:identifier>
  <dcterms:modified xsi:type="dcterms:W3CDTF">2011-08-01T06:04:30Z</dcterms:modified>
  <cp:revision>1</cp:revision>
  <dc:title>Presentation - Portfolio Analysis Challenge</dc:title>
</cp:coreProperties>
</file>