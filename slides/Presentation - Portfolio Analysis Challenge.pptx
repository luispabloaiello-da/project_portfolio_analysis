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enor Sans" charset="1" panose="02000000000000000000"/>
      <p:regular r:id="rId12"/>
    </p:embeddedFont>
    <p:embeddedFont>
      <p:font typeface="Clear Sans" charset="1" panose="020B0503030202020304"/>
      <p:regular r:id="rId13"/>
    </p:embeddedFont>
    <p:embeddedFont>
      <p:font typeface="TT Fors" charset="1" panose="020B0003030001020000"/>
      <p:regular r:id="rId14"/>
    </p:embeddedFont>
    <p:embeddedFont>
      <p:font typeface="Clear Sans Bold" charset="1" panose="020B0803030202020304"/>
      <p:regular r:id="rId15"/>
    </p:embeddedFont>
    <p:embeddedFont>
      <p:font typeface="Canva Sans" charset="1" panose="020B0503030501040103"/>
      <p:regular r:id="rId16"/>
    </p:embeddedFont>
    <p:embeddedFont>
      <p:font typeface="Arimo" charset="1" panose="020B0604020202020204"/>
      <p:regular r:id="rId17"/>
    </p:embeddedFont>
    <p:embeddedFont>
      <p:font typeface="Clear Sans Medium" charset="1" panose="020B06030302020203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9.jpeg" Type="http://schemas.openxmlformats.org/officeDocument/2006/relationships/image"/><Relationship Id="rId4" Target="../media/image10.jpeg" Type="http://schemas.openxmlformats.org/officeDocument/2006/relationships/image"/><Relationship Id="rId5" Target="../media/image11.jpeg" Type="http://schemas.openxmlformats.org/officeDocument/2006/relationships/image"/><Relationship Id="rId6" Target="../media/image12.jpeg" Type="http://schemas.openxmlformats.org/officeDocument/2006/relationships/image"/><Relationship Id="rId7" Target="../media/image2.png" Type="http://schemas.openxmlformats.org/officeDocument/2006/relationships/image"/><Relationship Id="rId8" Target="../media/image3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9763125" cy="5732563"/>
            <a:chOff x="0" y="0"/>
            <a:chExt cx="13017500" cy="7643418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190500"/>
              <a:ext cx="13017500" cy="5499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500"/>
                </a:lnSpc>
              </a:pPr>
              <a:r>
                <a:rPr lang="en-US" sz="10500" spc="-210">
                  <a:solidFill>
                    <a:srgbClr val="E2E8F0"/>
                  </a:solidFill>
                  <a:latin typeface="Tenor Sans"/>
                  <a:ea typeface="Tenor Sans"/>
                  <a:cs typeface="Tenor Sans"/>
                  <a:sym typeface="Tenor Sans"/>
                </a:rPr>
                <a:t>Portfolio Analysis Challenge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6199644"/>
              <a:ext cx="13017500" cy="144377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480"/>
                </a:lnSpc>
                <a:spcBef>
                  <a:spcPct val="0"/>
                </a:spcBef>
              </a:pPr>
              <a:r>
                <a:rPr lang="en-US" sz="3200">
                  <a:solidFill>
                    <a:srgbClr val="E2E8F0"/>
                  </a:solidFill>
                  <a:latin typeface="Clear Sans"/>
                  <a:ea typeface="Clear Sans"/>
                  <a:cs typeface="Clear Sans"/>
                  <a:sym typeface="Clear Sans"/>
                </a:rPr>
                <a:t>UNDE</a:t>
              </a:r>
              <a:r>
                <a:rPr lang="en-US" sz="3200">
                  <a:solidFill>
                    <a:srgbClr val="E2E8F0"/>
                  </a:solidFill>
                  <a:latin typeface="Clear Sans"/>
                  <a:ea typeface="Clear Sans"/>
                  <a:cs typeface="Clear Sans"/>
                  <a:sym typeface="Clear Sans"/>
                </a:rPr>
                <a:t>RSTANDING PERFORMANCE, RISK, AND DIVERSIFICATION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172950" y="0"/>
            <a:ext cx="6115050" cy="10287000"/>
            <a:chOff x="0" y="0"/>
            <a:chExt cx="947381" cy="15937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47381" cy="1593725"/>
            </a:xfrm>
            <a:custGeom>
              <a:avLst/>
              <a:gdLst/>
              <a:ahLst/>
              <a:cxnLst/>
              <a:rect r="r" b="b" t="t" l="l"/>
              <a:pathLst>
                <a:path h="1593725" w="947381">
                  <a:moveTo>
                    <a:pt x="0" y="0"/>
                  </a:moveTo>
                  <a:lnTo>
                    <a:pt x="947381" y="0"/>
                  </a:lnTo>
                  <a:lnTo>
                    <a:pt x="947381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58" r="0" b="-58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8774635" y="7396104"/>
            <a:ext cx="6274865" cy="4114800"/>
          </a:xfrm>
          <a:custGeom>
            <a:avLst/>
            <a:gdLst/>
            <a:ahLst/>
            <a:cxnLst/>
            <a:rect r="r" b="b" t="t" l="l"/>
            <a:pathLst>
              <a:path h="4114800" w="6274865">
                <a:moveTo>
                  <a:pt x="0" y="0"/>
                </a:moveTo>
                <a:lnTo>
                  <a:pt x="6274865" y="0"/>
                </a:lnTo>
                <a:lnTo>
                  <a:pt x="627486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8" id="8"/>
          <p:cNvSpPr txBox="true"/>
          <p:nvPr/>
        </p:nvSpPr>
        <p:spPr>
          <a:xfrm rot="0">
            <a:off x="1028700" y="8411606"/>
            <a:ext cx="7194651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40"/>
              </a:lnSpc>
            </a:pPr>
            <a:r>
              <a:rPr lang="en-US" sz="2600">
                <a:solidFill>
                  <a:srgbClr val="A1C4E8"/>
                </a:solidFill>
                <a:latin typeface="TT Fors"/>
                <a:ea typeface="TT Fors"/>
                <a:cs typeface="TT Fors"/>
                <a:sym typeface="TT Fors"/>
              </a:rPr>
              <a:t>By Luis Pablo Aiello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31976" y="8902065"/>
            <a:ext cx="7194651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</a:pPr>
            <a:r>
              <a:rPr lang="en-US" sz="2100">
                <a:solidFill>
                  <a:srgbClr val="A1C4E8"/>
                </a:solidFill>
                <a:latin typeface="TT Fors"/>
                <a:ea typeface="TT Fors"/>
                <a:cs typeface="TT Fors"/>
                <a:sym typeface="TT Fors"/>
              </a:rPr>
              <a:t>Data Analytics Student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55623" y="4515564"/>
            <a:ext cx="10376982" cy="5188491"/>
          </a:xfrm>
          <a:custGeom>
            <a:avLst/>
            <a:gdLst/>
            <a:ahLst/>
            <a:cxnLst/>
            <a:rect r="r" b="b" t="t" l="l"/>
            <a:pathLst>
              <a:path h="5188491" w="10376982">
                <a:moveTo>
                  <a:pt x="0" y="0"/>
                </a:moveTo>
                <a:lnTo>
                  <a:pt x="10376982" y="0"/>
                </a:lnTo>
                <a:lnTo>
                  <a:pt x="10376982" y="5188491"/>
                </a:lnTo>
                <a:lnTo>
                  <a:pt x="0" y="51884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55623" y="386989"/>
            <a:ext cx="9950393" cy="3650831"/>
            <a:chOff x="0" y="0"/>
            <a:chExt cx="13267191" cy="4867774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2739139"/>
              <a:ext cx="13267191" cy="5031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20"/>
                </a:lnSpc>
                <a:spcBef>
                  <a:spcPct val="0"/>
                </a:spcBef>
              </a:pPr>
              <a:r>
                <a:rPr lang="en-US" b="true" sz="2300">
                  <a:solidFill>
                    <a:srgbClr val="E2E8F0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ASS</a:t>
              </a:r>
              <a:r>
                <a:rPr lang="en-US" b="true" sz="2300">
                  <a:solidFill>
                    <a:srgbClr val="E2E8F0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ET BEHAVIOR — PRICE GROWTH &amp; DAILY MOVES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3910943"/>
              <a:ext cx="13267191" cy="95683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>
                  <a:solidFill>
                    <a:srgbClr val="E2E8F0"/>
                  </a:solidFill>
                  <a:latin typeface="Clear Sans"/>
                  <a:ea typeface="Clear Sans"/>
                  <a:cs typeface="Clear Sans"/>
                  <a:sym typeface="Clear Sans"/>
                </a:rPr>
                <a:t>This analysis showcases how different assets behave over time, helping investors identify </a:t>
              </a:r>
              <a:r>
                <a:rPr lang="en-US" b="true" sz="2099">
                  <a:solidFill>
                    <a:srgbClr val="E2E8F0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growth potential</a:t>
              </a:r>
              <a:r>
                <a:rPr lang="en-US" sz="2099">
                  <a:solidFill>
                    <a:srgbClr val="E2E8F0"/>
                  </a:solidFill>
                  <a:latin typeface="Clear Sans"/>
                  <a:ea typeface="Clear Sans"/>
                  <a:cs typeface="Clear Sans"/>
                  <a:sym typeface="Clear Sans"/>
                </a:rPr>
                <a:t> and </a:t>
              </a:r>
              <a:r>
                <a:rPr lang="en-US" b="true" sz="2099">
                  <a:solidFill>
                    <a:srgbClr val="E2E8F0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volatility</a:t>
              </a:r>
              <a:r>
                <a:rPr lang="en-US" sz="2099">
                  <a:solidFill>
                    <a:srgbClr val="E2E8F0"/>
                  </a:solidFill>
                  <a:latin typeface="Clear Sans"/>
                  <a:ea typeface="Clear Sans"/>
                  <a:cs typeface="Clear Sans"/>
                  <a:sym typeface="Clear Sans"/>
                </a:rPr>
                <a:t> through visualized data.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-19050"/>
              <a:ext cx="13267191" cy="22542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600"/>
                </a:lnSpc>
              </a:pPr>
              <a:r>
                <a:rPr lang="en-US" sz="5500" spc="-110">
                  <a:solidFill>
                    <a:srgbClr val="E2E8F0"/>
                  </a:solidFill>
                  <a:latin typeface="Tenor Sans"/>
                  <a:ea typeface="Tenor Sans"/>
                  <a:cs typeface="Tenor Sans"/>
                  <a:sym typeface="Tenor Sans"/>
                </a:rPr>
                <a:t>Analyzing Asset Behavior: Price and Returns</a:t>
              </a:r>
            </a:p>
          </p:txBody>
        </p:sp>
      </p:grp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11672887" y="2571750"/>
          <a:ext cx="5586412" cy="6686550"/>
        </p:xfrm>
        <a:graphic>
          <a:graphicData uri="http://schemas.openxmlformats.org/drawingml/2006/table">
            <a:tbl>
              <a:tblPr/>
              <a:tblGrid>
                <a:gridCol w="891810"/>
                <a:gridCol w="945182"/>
                <a:gridCol w="947120"/>
                <a:gridCol w="936237"/>
                <a:gridCol w="942946"/>
                <a:gridCol w="923118"/>
              </a:tblGrid>
              <a:tr h="410159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E2E8F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Asset5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0159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Date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1/3/2019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-0.002032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-0.016072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-0.005699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-0.002707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-0.009432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1/4/2019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-0.00274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0.020954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0.025255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-0.001125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0.019242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1/7/2019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-0.001512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0.012632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-0.007338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0.001856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0.014792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1/8/2019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-0.001535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0.001003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0.00704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0.003605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-0.000192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1/9/2019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0.001976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0.012919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0.002272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0.00412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0.014003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1/10/2019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0.001496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0.000642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0.005754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0.000361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0.000568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1/11/2019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0.001388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0.000434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0.000867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0.001608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-0.001513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1/14/2019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0.001139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-0.001785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-0.006756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-0.000033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-0.003598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1/15/2019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0.001023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0.006546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0.005581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0.001245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-0.00152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1/16/2019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0.000712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0.00797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0.000694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0.002977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0.0059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1/17/2019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-0.000024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0.000513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0.000173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0.001142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-0.001325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1/18/2019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-0.000106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0.017517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0.018021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0.001401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0.01421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1/21/2019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-0.000537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-0.002017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-0.002553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0.000846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-0.002242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1/22/2019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0.001222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-0.006064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-0.004266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-0.00039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-0.008051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9108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1/23/2019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0.00047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-0.005881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-0.002571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-0.000716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617"/>
                        </a:lnSpc>
                        <a:defRPr/>
                      </a:pPr>
                      <a:r>
                        <a:rPr lang="en-US" sz="1155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0.00151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8" id="8"/>
          <p:cNvSpPr txBox="true"/>
          <p:nvPr/>
        </p:nvSpPr>
        <p:spPr>
          <a:xfrm rot="0">
            <a:off x="11672887" y="1805877"/>
            <a:ext cx="5586412" cy="406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18"/>
              </a:lnSpc>
              <a:spcBef>
                <a:spcPct val="0"/>
              </a:spcBef>
            </a:pPr>
            <a:r>
              <a:rPr lang="en-US" b="true" sz="2370">
                <a:solidFill>
                  <a:srgbClr val="E2E8F0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DAILY RETURNS CALCULATION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11477545" y="5627935"/>
          <a:ext cx="6280547" cy="2809875"/>
        </p:xfrm>
        <a:graphic>
          <a:graphicData uri="http://schemas.openxmlformats.org/drawingml/2006/table">
            <a:tbl>
              <a:tblPr/>
              <a:tblGrid>
                <a:gridCol w="783578"/>
                <a:gridCol w="1122974"/>
                <a:gridCol w="1110752"/>
                <a:gridCol w="1104939"/>
                <a:gridCol w="1035330"/>
                <a:gridCol w="1122974"/>
              </a:tblGrid>
              <a:tr h="46831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831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-0.088341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-0.061253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0.102252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-0.106484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831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-0.088341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0.852491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0.526634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0.591399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6831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-0.061253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0.852491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0.51155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0.557414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831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0.102252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0.526634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0.51155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0.421155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68312"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Asset5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-0.106484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0.591399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0.557414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0.421155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E2E8F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Freeform 3" id="3"/>
          <p:cNvSpPr/>
          <p:nvPr/>
        </p:nvSpPr>
        <p:spPr>
          <a:xfrm flipH="false" flipV="false" rot="0">
            <a:off x="811168" y="3467732"/>
            <a:ext cx="10057530" cy="6034518"/>
          </a:xfrm>
          <a:custGeom>
            <a:avLst/>
            <a:gdLst/>
            <a:ahLst/>
            <a:cxnLst/>
            <a:rect r="r" b="b" t="t" l="l"/>
            <a:pathLst>
              <a:path h="6034518" w="10057530">
                <a:moveTo>
                  <a:pt x="0" y="0"/>
                </a:moveTo>
                <a:lnTo>
                  <a:pt x="10057530" y="0"/>
                </a:lnTo>
                <a:lnTo>
                  <a:pt x="10057530" y="6034518"/>
                </a:lnTo>
                <a:lnTo>
                  <a:pt x="0" y="60345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811168" y="498069"/>
            <a:ext cx="9263216" cy="3286413"/>
            <a:chOff x="0" y="0"/>
            <a:chExt cx="12350954" cy="4381884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3856739"/>
              <a:ext cx="12350954" cy="5251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-19050"/>
              <a:ext cx="12350954" cy="3371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600"/>
                </a:lnSpc>
              </a:pPr>
              <a:r>
                <a:rPr lang="en-US" sz="5500" spc="-110">
                  <a:solidFill>
                    <a:srgbClr val="E2E8F0"/>
                  </a:solidFill>
                  <a:latin typeface="Tenor Sans"/>
                  <a:ea typeface="Tenor Sans"/>
                  <a:cs typeface="Tenor Sans"/>
                  <a:sym typeface="Tenor Sans"/>
                </a:rPr>
                <a:t>Understanding Asset Correlations for Diversification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1477545" y="4484547"/>
            <a:ext cx="6280547" cy="406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18"/>
              </a:lnSpc>
              <a:spcBef>
                <a:spcPct val="0"/>
              </a:spcBef>
            </a:pPr>
            <a:r>
              <a:rPr lang="en-US" b="true" sz="2370">
                <a:solidFill>
                  <a:srgbClr val="E2E8F0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CORRELATION MATRIX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144000" y="810260"/>
            <a:ext cx="811530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b="true" sz="2300">
                <a:solidFill>
                  <a:srgbClr val="E2E8F0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ASSET MOVEMENT INSIGHTS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703967" y="1563108"/>
            <a:ext cx="9054125" cy="1108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E2E8F0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ANALYZING ASSET CORRELATIONS HELPS IDENTIFY DIVERSIFICATION OPPORTUNITIES, ENHANCING PORTFOLIO RESILIENCE AND REDUCING OVERALL RISK THROUGH STRATEGIC ASSET ALLOCATION.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477545" y="4985112"/>
            <a:ext cx="6280547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E2E8F0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Low/negative correlation = shock absorbers</a:t>
            </a:r>
          </a:p>
        </p:txBody>
      </p:sp>
      <p:sp>
        <p:nvSpPr>
          <p:cNvPr name="AutoShape 11" id="11"/>
          <p:cNvSpPr/>
          <p:nvPr/>
        </p:nvSpPr>
        <p:spPr>
          <a:xfrm flipV="true">
            <a:off x="2654024" y="6910673"/>
            <a:ext cx="1959729" cy="1698865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 flipV="true">
            <a:off x="7954455" y="6910673"/>
            <a:ext cx="1684940" cy="1821065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12800" y="5506495"/>
            <a:ext cx="8439012" cy="4219506"/>
          </a:xfrm>
          <a:custGeom>
            <a:avLst/>
            <a:gdLst/>
            <a:ahLst/>
            <a:cxnLst/>
            <a:rect r="r" b="b" t="t" l="l"/>
            <a:pathLst>
              <a:path h="4219506" w="8439012">
                <a:moveTo>
                  <a:pt x="0" y="0"/>
                </a:moveTo>
                <a:lnTo>
                  <a:pt x="8439013" y="0"/>
                </a:lnTo>
                <a:lnTo>
                  <a:pt x="8439013" y="4219507"/>
                </a:lnTo>
                <a:lnTo>
                  <a:pt x="0" y="421950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336187" y="5506495"/>
            <a:ext cx="8439012" cy="4219506"/>
          </a:xfrm>
          <a:custGeom>
            <a:avLst/>
            <a:gdLst/>
            <a:ahLst/>
            <a:cxnLst/>
            <a:rect r="r" b="b" t="t" l="l"/>
            <a:pathLst>
              <a:path h="4219506" w="8439012">
                <a:moveTo>
                  <a:pt x="0" y="0"/>
                </a:moveTo>
                <a:lnTo>
                  <a:pt x="8439013" y="0"/>
                </a:lnTo>
                <a:lnTo>
                  <a:pt x="8439013" y="4219507"/>
                </a:lnTo>
                <a:lnTo>
                  <a:pt x="0" y="42195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704988" y="528954"/>
            <a:ext cx="9852633" cy="4018453"/>
            <a:chOff x="0" y="0"/>
            <a:chExt cx="13136844" cy="5357938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2739139"/>
              <a:ext cx="13136844" cy="5031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20"/>
                </a:lnSpc>
                <a:spcBef>
                  <a:spcPct val="0"/>
                </a:spcBef>
              </a:pPr>
              <a:r>
                <a:rPr lang="en-US" b="true" sz="2300">
                  <a:solidFill>
                    <a:srgbClr val="E2E8F0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ANALYZING GROWTH AND VOLATILITY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3910943"/>
              <a:ext cx="13136844" cy="144699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  <a:spcBef>
                  <a:spcPct val="0"/>
                </a:spcBef>
              </a:pPr>
              <a:r>
                <a:rPr lang="en-US" sz="2099">
                  <a:solidFill>
                    <a:srgbClr val="E2E8F0"/>
                  </a:solidFill>
                  <a:latin typeface="Clear Sans"/>
                  <a:ea typeface="Clear Sans"/>
                  <a:cs typeface="Clear Sans"/>
                  <a:sym typeface="Clear Sans"/>
                </a:rPr>
                <a:t>This section presents the portfolio's </a:t>
              </a:r>
              <a:r>
                <a:rPr lang="en-US" b="true" sz="2099">
                  <a:solidFill>
                    <a:srgbClr val="E2E8F0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cumulative return</a:t>
              </a:r>
              <a:r>
                <a:rPr lang="en-US" sz="2099">
                  <a:solidFill>
                    <a:srgbClr val="E2E8F0"/>
                  </a:solidFill>
                  <a:latin typeface="Clear Sans"/>
                  <a:ea typeface="Clear Sans"/>
                  <a:cs typeface="Clear Sans"/>
                  <a:sym typeface="Clear Sans"/>
                </a:rPr>
                <a:t> over time, illustrating growth alongside moderate fluctuations, highlighting overall performance and risk levels.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-19050"/>
              <a:ext cx="13136844" cy="22542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600"/>
                </a:lnSpc>
              </a:pPr>
              <a:r>
                <a:rPr lang="en-US" sz="5500" spc="-110">
                  <a:solidFill>
                    <a:srgbClr val="E2E8F0"/>
                  </a:solidFill>
                  <a:latin typeface="Tenor Sans"/>
                  <a:ea typeface="Tenor Sans"/>
                  <a:cs typeface="Tenor Sans"/>
                  <a:sym typeface="Tenor Sans"/>
                </a:rPr>
                <a:t>Performance &amp; Risk Overview of Portfolio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9336187" y="1543222"/>
            <a:ext cx="8439012" cy="2966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Annualized Return ≈ 11.5% 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— solid growth — 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Annualized Volatility ≈ 8.5% 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— moderate risk — 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return/vol ≈ 1.35 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—  good quality — 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4010025" cy="2340610"/>
            <a:chOff x="0" y="0"/>
            <a:chExt cx="1029283" cy="60078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29283" cy="600782"/>
            </a:xfrm>
            <a:custGeom>
              <a:avLst/>
              <a:gdLst/>
              <a:ahLst/>
              <a:cxnLst/>
              <a:rect r="r" b="b" t="t" l="l"/>
              <a:pathLst>
                <a:path h="600782" w="1029283">
                  <a:moveTo>
                    <a:pt x="0" y="0"/>
                  </a:moveTo>
                  <a:lnTo>
                    <a:pt x="1029283" y="0"/>
                  </a:lnTo>
                  <a:lnTo>
                    <a:pt x="1029283" y="600782"/>
                  </a:lnTo>
                  <a:lnTo>
                    <a:pt x="0" y="600782"/>
                  </a:lnTo>
                  <a:close/>
                </a:path>
              </a:pathLst>
            </a:custGeom>
            <a:blipFill>
              <a:blip r:embed="rId2"/>
              <a:stretch>
                <a:fillRect l="-102" t="0" r="-102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4981575" y="5143500"/>
            <a:ext cx="4010025" cy="2302164"/>
            <a:chOff x="0" y="0"/>
            <a:chExt cx="1029283" cy="59091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9283" cy="590914"/>
            </a:xfrm>
            <a:custGeom>
              <a:avLst/>
              <a:gdLst/>
              <a:ahLst/>
              <a:cxnLst/>
              <a:rect r="r" b="b" t="t" l="l"/>
              <a:pathLst>
                <a:path h="590914" w="1029283">
                  <a:moveTo>
                    <a:pt x="0" y="0"/>
                  </a:moveTo>
                  <a:lnTo>
                    <a:pt x="1029283" y="0"/>
                  </a:lnTo>
                  <a:lnTo>
                    <a:pt x="1029283" y="590914"/>
                  </a:lnTo>
                  <a:lnTo>
                    <a:pt x="0" y="590914"/>
                  </a:lnTo>
                  <a:close/>
                </a:path>
              </a:pathLst>
            </a:custGeom>
            <a:blipFill>
              <a:blip r:embed="rId3"/>
              <a:stretch>
                <a:fillRect l="-249" t="0" r="-249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666750" y="5143500"/>
            <a:ext cx="4010025" cy="2303189"/>
            <a:chOff x="0" y="0"/>
            <a:chExt cx="1029283" cy="59117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29283" cy="591177"/>
            </a:xfrm>
            <a:custGeom>
              <a:avLst/>
              <a:gdLst/>
              <a:ahLst/>
              <a:cxnLst/>
              <a:rect r="r" b="b" t="t" l="l"/>
              <a:pathLst>
                <a:path h="591177" w="1029283">
                  <a:moveTo>
                    <a:pt x="0" y="0"/>
                  </a:moveTo>
                  <a:lnTo>
                    <a:pt x="1029283" y="0"/>
                  </a:lnTo>
                  <a:lnTo>
                    <a:pt x="1029283" y="591177"/>
                  </a:lnTo>
                  <a:lnTo>
                    <a:pt x="0" y="591177"/>
                  </a:lnTo>
                  <a:close/>
                </a:path>
              </a:pathLst>
            </a:custGeom>
            <a:blipFill>
              <a:blip r:embed="rId4"/>
              <a:stretch>
                <a:fillRect l="-272" t="0" r="-272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9296400" y="664818"/>
            <a:ext cx="4010025" cy="2328423"/>
            <a:chOff x="0" y="0"/>
            <a:chExt cx="1509365" cy="87641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509365" cy="876413"/>
            </a:xfrm>
            <a:custGeom>
              <a:avLst/>
              <a:gdLst/>
              <a:ahLst/>
              <a:cxnLst/>
              <a:rect r="r" b="b" t="t" l="l"/>
              <a:pathLst>
                <a:path h="876413" w="1509365">
                  <a:moveTo>
                    <a:pt x="0" y="0"/>
                  </a:moveTo>
                  <a:lnTo>
                    <a:pt x="1509365" y="0"/>
                  </a:lnTo>
                  <a:lnTo>
                    <a:pt x="1509365" y="876413"/>
                  </a:lnTo>
                  <a:lnTo>
                    <a:pt x="0" y="876413"/>
                  </a:lnTo>
                  <a:close/>
                </a:path>
              </a:pathLst>
            </a:custGeom>
            <a:blipFill>
              <a:blip r:embed="rId5"/>
              <a:stretch>
                <a:fillRect l="-381" t="0" r="-381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4981575" y="664818"/>
            <a:ext cx="4010025" cy="2328423"/>
            <a:chOff x="0" y="0"/>
            <a:chExt cx="1509365" cy="87641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09365" cy="876413"/>
            </a:xfrm>
            <a:custGeom>
              <a:avLst/>
              <a:gdLst/>
              <a:ahLst/>
              <a:cxnLst/>
              <a:rect r="r" b="b" t="t" l="l"/>
              <a:pathLst>
                <a:path h="876413" w="1509365">
                  <a:moveTo>
                    <a:pt x="0" y="0"/>
                  </a:moveTo>
                  <a:lnTo>
                    <a:pt x="1509365" y="0"/>
                  </a:lnTo>
                  <a:lnTo>
                    <a:pt x="1509365" y="876413"/>
                  </a:lnTo>
                  <a:lnTo>
                    <a:pt x="0" y="876413"/>
                  </a:lnTo>
                  <a:close/>
                </a:path>
              </a:pathLst>
            </a:custGeom>
            <a:blipFill>
              <a:blip r:embed="rId6"/>
              <a:stretch>
                <a:fillRect l="-381" t="0" r="-381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15150568" y="7200900"/>
            <a:ext cx="6274865" cy="4114800"/>
          </a:xfrm>
          <a:custGeom>
            <a:avLst/>
            <a:gdLst/>
            <a:ahLst/>
            <a:cxnLst/>
            <a:rect r="r" b="b" t="t" l="l"/>
            <a:pathLst>
              <a:path h="4114800" w="6274865">
                <a:moveTo>
                  <a:pt x="0" y="0"/>
                </a:moveTo>
                <a:lnTo>
                  <a:pt x="6274864" y="0"/>
                </a:lnTo>
                <a:lnTo>
                  <a:pt x="627486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13" id="13"/>
          <p:cNvGrpSpPr/>
          <p:nvPr/>
        </p:nvGrpSpPr>
        <p:grpSpPr>
          <a:xfrm rot="0">
            <a:off x="666750" y="3352800"/>
            <a:ext cx="4010025" cy="1087088"/>
            <a:chOff x="0" y="0"/>
            <a:chExt cx="5346700" cy="1449451"/>
          </a:xfrm>
        </p:grpSpPr>
        <p:sp>
          <p:nvSpPr>
            <p:cNvPr name="TextBox 14" id="14"/>
            <p:cNvSpPr txBox="true"/>
            <p:nvPr/>
          </p:nvSpPr>
          <p:spPr>
            <a:xfrm rot="0">
              <a:off x="0" y="-47625"/>
              <a:ext cx="5346700" cy="526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318"/>
                </a:lnSpc>
                <a:spcBef>
                  <a:spcPct val="0"/>
                </a:spcBef>
              </a:pPr>
              <a:r>
                <a:rPr lang="en-US" b="true" sz="2370" strike="noStrike" u="none">
                  <a:solidFill>
                    <a:srgbClr val="E2E8F0"/>
                  </a:solidFill>
                  <a:latin typeface="Clear Sans Medium"/>
                  <a:ea typeface="Clear Sans Medium"/>
                  <a:cs typeface="Clear Sans Medium"/>
                  <a:sym typeface="Clear Sans Medium"/>
                </a:rPr>
                <a:t>RISK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16702" y="573151"/>
              <a:ext cx="5329998" cy="876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756"/>
                </a:lnSpc>
                <a:spcBef>
                  <a:spcPct val="0"/>
                </a:spcBef>
              </a:pPr>
              <a:r>
                <a:rPr lang="en-US" sz="1968">
                  <a:solidFill>
                    <a:srgbClr val="E2E8F0"/>
                  </a:solidFill>
                  <a:latin typeface="Clear Sans"/>
                  <a:ea typeface="Clear Sans"/>
                  <a:cs typeface="Clear Sans"/>
                  <a:sym typeface="Clear Sans"/>
                </a:rPr>
                <a:t>Manage cluster risk by rebalancing to avoid overexposure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4981575" y="3352800"/>
            <a:ext cx="4010025" cy="1087088"/>
            <a:chOff x="0" y="0"/>
            <a:chExt cx="5346700" cy="1449451"/>
          </a:xfrm>
        </p:grpSpPr>
        <p:sp>
          <p:nvSpPr>
            <p:cNvPr name="TextBox 17" id="17"/>
            <p:cNvSpPr txBox="true"/>
            <p:nvPr/>
          </p:nvSpPr>
          <p:spPr>
            <a:xfrm rot="0">
              <a:off x="0" y="-47625"/>
              <a:ext cx="5346700" cy="526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318"/>
                </a:lnSpc>
                <a:spcBef>
                  <a:spcPct val="0"/>
                </a:spcBef>
              </a:pPr>
              <a:r>
                <a:rPr lang="en-US" b="true" sz="2370" strike="noStrike" u="none">
                  <a:solidFill>
                    <a:srgbClr val="E2E8F0"/>
                  </a:solidFill>
                  <a:latin typeface="Clear Sans Medium"/>
                  <a:ea typeface="Clear Sans Medium"/>
                  <a:cs typeface="Clear Sans Medium"/>
                  <a:sym typeface="Clear Sans Medium"/>
                </a:rPr>
                <a:t>REBALANCING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16702" y="573151"/>
              <a:ext cx="5329998" cy="876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756"/>
                </a:lnSpc>
                <a:spcBef>
                  <a:spcPct val="0"/>
                </a:spcBef>
              </a:pPr>
              <a:r>
                <a:rPr lang="en-US" sz="1968">
                  <a:solidFill>
                    <a:srgbClr val="E2E8F0"/>
                  </a:solidFill>
                  <a:latin typeface="Clear Sans"/>
                  <a:ea typeface="Clear Sans"/>
                  <a:cs typeface="Clear Sans"/>
                  <a:sym typeface="Clear Sans"/>
                </a:rPr>
                <a:t>Enforce regular adjustment of weights as needed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66750" y="7829550"/>
            <a:ext cx="4010025" cy="1087088"/>
            <a:chOff x="0" y="0"/>
            <a:chExt cx="5346700" cy="1449451"/>
          </a:xfrm>
        </p:grpSpPr>
        <p:sp>
          <p:nvSpPr>
            <p:cNvPr name="TextBox 20" id="20"/>
            <p:cNvSpPr txBox="true"/>
            <p:nvPr/>
          </p:nvSpPr>
          <p:spPr>
            <a:xfrm rot="0">
              <a:off x="0" y="-47625"/>
              <a:ext cx="5346700" cy="526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318"/>
                </a:lnSpc>
                <a:spcBef>
                  <a:spcPct val="0"/>
                </a:spcBef>
              </a:pPr>
              <a:r>
                <a:rPr lang="en-US" b="true" sz="2370" strike="noStrike" u="none">
                  <a:solidFill>
                    <a:srgbClr val="E2E8F0"/>
                  </a:solidFill>
                  <a:latin typeface="Clear Sans Medium"/>
                  <a:ea typeface="Clear Sans Medium"/>
                  <a:cs typeface="Clear Sans Medium"/>
                  <a:sym typeface="Clear Sans Medium"/>
                </a:rPr>
                <a:t>DRAWDOWNS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6702" y="573151"/>
              <a:ext cx="5329998" cy="876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756"/>
                </a:lnSpc>
                <a:spcBef>
                  <a:spcPct val="0"/>
                </a:spcBef>
              </a:pPr>
              <a:r>
                <a:rPr lang="en-US" sz="1968">
                  <a:solidFill>
                    <a:srgbClr val="E2E8F0"/>
                  </a:solidFill>
                  <a:latin typeface="Clear Sans"/>
                  <a:ea typeface="Clear Sans"/>
                  <a:cs typeface="Clear Sans"/>
                  <a:sym typeface="Clear Sans"/>
                </a:rPr>
                <a:t>Monitor worst portfolio declines and recovery speed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4981575" y="7829550"/>
            <a:ext cx="4010025" cy="1087088"/>
            <a:chOff x="0" y="0"/>
            <a:chExt cx="5346700" cy="1449451"/>
          </a:xfrm>
        </p:grpSpPr>
        <p:sp>
          <p:nvSpPr>
            <p:cNvPr name="TextBox 23" id="23"/>
            <p:cNvSpPr txBox="true"/>
            <p:nvPr/>
          </p:nvSpPr>
          <p:spPr>
            <a:xfrm rot="0">
              <a:off x="0" y="-47625"/>
              <a:ext cx="5346700" cy="526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318"/>
                </a:lnSpc>
                <a:spcBef>
                  <a:spcPct val="0"/>
                </a:spcBef>
              </a:pPr>
              <a:r>
                <a:rPr lang="en-US" b="true" sz="2370" strike="noStrike" u="none">
                  <a:solidFill>
                    <a:srgbClr val="E2E8F0"/>
                  </a:solidFill>
                  <a:latin typeface="Clear Sans Medium"/>
                  <a:ea typeface="Clear Sans Medium"/>
                  <a:cs typeface="Clear Sans Medium"/>
                  <a:sym typeface="Clear Sans Medium"/>
                </a:rPr>
                <a:t>KPIS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6702" y="573151"/>
              <a:ext cx="5329998" cy="876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756"/>
                </a:lnSpc>
                <a:spcBef>
                  <a:spcPct val="0"/>
                </a:spcBef>
              </a:pPr>
              <a:r>
                <a:rPr lang="en-US" sz="1968">
                  <a:solidFill>
                    <a:srgbClr val="E2E8F0"/>
                  </a:solidFill>
                  <a:latin typeface="Clear Sans"/>
                  <a:ea typeface="Clear Sans"/>
                  <a:cs typeface="Clear Sans"/>
                  <a:sym typeface="Clear Sans"/>
                </a:rPr>
                <a:t>Measure risk-adjusted performance with key financial ratios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9296400" y="3305175"/>
            <a:ext cx="4025523" cy="406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18"/>
              </a:lnSpc>
              <a:spcBef>
                <a:spcPct val="0"/>
              </a:spcBef>
            </a:pPr>
            <a:r>
              <a:rPr lang="en-US" b="true" sz="2370" strike="noStrike" u="none">
                <a:solidFill>
                  <a:srgbClr val="E2E8F0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DIVERSIFICATION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308975" y="3775519"/>
            <a:ext cx="4012948" cy="664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56"/>
              </a:lnSpc>
            </a:pPr>
            <a:r>
              <a:rPr lang="en-US" sz="1968">
                <a:solidFill>
                  <a:srgbClr val="E2E8F0"/>
                </a:solidFill>
                <a:latin typeface="Clear Sans"/>
                <a:ea typeface="Clear Sans"/>
                <a:cs typeface="Clear Sans"/>
                <a:sym typeface="Clear Sans"/>
              </a:rPr>
              <a:t>Increase allocation to lower correlation assets for balance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3474361"/>
            <a:ext cx="12581027" cy="6290513"/>
          </a:xfrm>
          <a:custGeom>
            <a:avLst/>
            <a:gdLst/>
            <a:ahLst/>
            <a:cxnLst/>
            <a:rect r="r" b="b" t="t" l="l"/>
            <a:pathLst>
              <a:path h="6290513" w="12581027">
                <a:moveTo>
                  <a:pt x="0" y="0"/>
                </a:moveTo>
                <a:lnTo>
                  <a:pt x="12581027" y="0"/>
                </a:lnTo>
                <a:lnTo>
                  <a:pt x="12581027" y="6290514"/>
                </a:lnTo>
                <a:lnTo>
                  <a:pt x="0" y="62905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88950" y="809850"/>
            <a:ext cx="14361618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</a:pPr>
            <a:r>
              <a:rPr lang="en-US" sz="5500" spc="-110">
                <a:solidFill>
                  <a:srgbClr val="E2E8F0"/>
                </a:solidFill>
                <a:latin typeface="Tenor Sans"/>
                <a:ea typeface="Tenor Sans"/>
                <a:cs typeface="Tenor Sans"/>
                <a:sym typeface="Tenor Sans"/>
              </a:rPr>
              <a:t>Family View of Portfolio Composition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5150568" y="7200900"/>
            <a:ext cx="6274865" cy="4114800"/>
          </a:xfrm>
          <a:custGeom>
            <a:avLst/>
            <a:gdLst/>
            <a:ahLst/>
            <a:cxnLst/>
            <a:rect r="r" b="b" t="t" l="l"/>
            <a:pathLst>
              <a:path h="4114800" w="6274865">
                <a:moveTo>
                  <a:pt x="0" y="0"/>
                </a:moveTo>
                <a:lnTo>
                  <a:pt x="6274864" y="0"/>
                </a:lnTo>
                <a:lnTo>
                  <a:pt x="627486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-5466585">
            <a:off x="14121868" y="-1829911"/>
            <a:ext cx="6274865" cy="4114800"/>
          </a:xfrm>
          <a:custGeom>
            <a:avLst/>
            <a:gdLst/>
            <a:ahLst/>
            <a:cxnLst/>
            <a:rect r="r" b="b" t="t" l="l"/>
            <a:pathLst>
              <a:path h="4114800" w="6274865">
                <a:moveTo>
                  <a:pt x="0" y="0"/>
                </a:moveTo>
                <a:lnTo>
                  <a:pt x="6274864" y="0"/>
                </a:lnTo>
                <a:lnTo>
                  <a:pt x="627486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6" id="6"/>
          <p:cNvSpPr txBox="true"/>
          <p:nvPr/>
        </p:nvSpPr>
        <p:spPr>
          <a:xfrm rot="0">
            <a:off x="788950" y="1984179"/>
            <a:ext cx="13986563" cy="73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b="true" sz="2100">
                <a:solidFill>
                  <a:srgbClr val="E2E8F0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THIS STACKED AREA CHART VISUALIZES PORTFOLIO WEIGHTS ACROSS EQUITIES, FIXED INCOME, AND ALTERNATIVES, ENSURING COMPLIANCE WITH POLICY LIMITS AND DIVERSIFICATION STRATEGIES.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Portfolio Analysis Challenge</dc:description>
  <dc:identifier>DAG4nAOf_ZM</dc:identifier>
  <dcterms:modified xsi:type="dcterms:W3CDTF">2011-08-01T06:04:30Z</dcterms:modified>
  <cp:revision>1</cp:revision>
  <dc:title>Presentation - Portfolio Analysis Challenge</dc:title>
</cp:coreProperties>
</file>